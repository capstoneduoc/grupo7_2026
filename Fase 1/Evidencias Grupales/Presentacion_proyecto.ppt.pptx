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U+65PDbA5TBcx/QoO+r4IVgE0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_assets/duoc_logo_crop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5550" y="219456"/>
            <a:ext cx="2870421" cy="69494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0" y="6355080"/>
            <a:ext cx="12191695" cy="73152"/>
          </a:xfrm>
          <a:prstGeom prst="rect">
            <a:avLst/>
          </a:prstGeom>
          <a:solidFill>
            <a:srgbClr val="E5A823"/>
          </a:solidFill>
          <a:ln cap="flat" cmpd="sng" w="12700">
            <a:solidFill>
              <a:srgbClr val="E5A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188720" y="1417320"/>
            <a:ext cx="9784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3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Presentación Portafolio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3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TuPymeGestiona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097280" y="2578608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842"/>
              </a:buClr>
              <a:buSzPts val="2300"/>
              <a:buFont typeface="Arial"/>
              <a:buNone/>
            </a:pPr>
            <a:r>
              <a:rPr b="0" i="1" lang="en-US" sz="2300" u="none" cap="none" strike="noStrike">
                <a:solidFill>
                  <a:srgbClr val="162842"/>
                </a:solidFill>
                <a:latin typeface="Arial"/>
                <a:ea typeface="Arial"/>
                <a:cs typeface="Arial"/>
                <a:sym typeface="Arial"/>
              </a:rPr>
              <a:t>“Plataforma Web Integral para la Gestión de PYMES”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097280" y="379476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Ingeniería Informática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097280" y="4370832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Escuela de Informática y Telecomunicaciones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Sede Puente Alto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_assets/duoc_logo_crop.png" id="27" name="Google Shape;2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362" y="164592"/>
            <a:ext cx="2341659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/>
          <p:nvPr/>
        </p:nvSpPr>
        <p:spPr>
          <a:xfrm>
            <a:off x="640080" y="6556248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TuPymeGestiona · Ingeniería Informática · Capstone 2026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" name="Google Shape;29;p2"/>
          <p:cNvCxnSpPr/>
          <p:nvPr/>
        </p:nvCxnSpPr>
        <p:spPr>
          <a:xfrm>
            <a:off x="640080" y="6473952"/>
            <a:ext cx="1092708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2"/>
          <p:cNvSpPr/>
          <p:nvPr/>
        </p:nvSpPr>
        <p:spPr>
          <a:xfrm>
            <a:off x="530352" y="2331720"/>
            <a:ext cx="3154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INTEGRANTES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 PROYECTO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069080" y="1298448"/>
            <a:ext cx="6903720" cy="960120"/>
          </a:xfrm>
          <a:prstGeom prst="roundRect">
            <a:avLst>
              <a:gd fmla="val 12381" name="adj"/>
            </a:avLst>
          </a:prstGeom>
          <a:solidFill>
            <a:srgbClr val="2F66C9"/>
          </a:solidFill>
          <a:ln cap="flat" cmpd="sng" w="12700">
            <a:solidFill>
              <a:srgbClr val="2456A5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4187952" y="1426464"/>
            <a:ext cx="1051560" cy="704088"/>
          </a:xfrm>
          <a:prstGeom prst="rect">
            <a:avLst/>
          </a:prstGeom>
          <a:solidFill>
            <a:srgbClr val="E8EEFF"/>
          </a:solidFill>
          <a:ln cap="flat" cmpd="sng" w="9525">
            <a:solidFill>
              <a:srgbClr val="E8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66C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66C9"/>
                </a:solidFill>
                <a:latin typeface="Arial"/>
                <a:ea typeface="Arial"/>
                <a:cs typeface="Arial"/>
                <a:sym typeface="Arial"/>
              </a:rPr>
              <a:t>BR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349240" y="1389888"/>
            <a:ext cx="5349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60"/>
              <a:buFont typeface="Arial"/>
              <a:buNone/>
            </a:pPr>
            <a:r>
              <a:rPr b="0" i="0" lang="en-US" sz="14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Betzabe Ruiz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60"/>
              <a:buFont typeface="Arial"/>
              <a:buNone/>
            </a:pPr>
            <a:r>
              <a:rPr b="0" i="0" lang="en-US" sz="14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Jefe de Proyecto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60"/>
              <a:buFont typeface="Arial"/>
              <a:buNone/>
            </a:pPr>
            <a:r>
              <a:rPr b="0" i="0" lang="en-US" sz="14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Coordina planificación, alcance y entregables.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069080" y="2505456"/>
            <a:ext cx="6903720" cy="960120"/>
          </a:xfrm>
          <a:prstGeom prst="roundRect">
            <a:avLst>
              <a:gd fmla="val 12381" name="adj"/>
            </a:avLst>
          </a:prstGeom>
          <a:solidFill>
            <a:srgbClr val="2F66C9"/>
          </a:solidFill>
          <a:ln cap="flat" cmpd="sng" w="12700">
            <a:solidFill>
              <a:srgbClr val="2456A5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4187952" y="2633472"/>
            <a:ext cx="1051560" cy="704088"/>
          </a:xfrm>
          <a:prstGeom prst="rect">
            <a:avLst/>
          </a:prstGeom>
          <a:solidFill>
            <a:srgbClr val="E8EEFF"/>
          </a:solidFill>
          <a:ln cap="flat" cmpd="sng" w="9525">
            <a:solidFill>
              <a:srgbClr val="E8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66C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66C9"/>
                </a:solidFill>
                <a:latin typeface="Arial"/>
                <a:ea typeface="Arial"/>
                <a:cs typeface="Arial"/>
                <a:sym typeface="Arial"/>
              </a:rPr>
              <a:t>FA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349240" y="2596896"/>
            <a:ext cx="5349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60"/>
              <a:buFont typeface="Arial"/>
              <a:buNone/>
            </a:pPr>
            <a:r>
              <a:rPr b="0" i="0" lang="en-US" sz="14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Felipe Arcos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60"/>
              <a:buFont typeface="Arial"/>
              <a:buNone/>
            </a:pPr>
            <a:r>
              <a:rPr b="0" i="0" lang="en-US" sz="14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Analista Programador / Diseñador UI-UX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60"/>
              <a:buFont typeface="Arial"/>
              <a:buNone/>
            </a:pPr>
            <a:r>
              <a:rPr b="0" i="0" lang="en-US" sz="14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Diseña interfaz y apoya desarrollo frontend.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069080" y="3712464"/>
            <a:ext cx="6903720" cy="960120"/>
          </a:xfrm>
          <a:prstGeom prst="roundRect">
            <a:avLst>
              <a:gd fmla="val 12381" name="adj"/>
            </a:avLst>
          </a:prstGeom>
          <a:solidFill>
            <a:srgbClr val="2F66C9"/>
          </a:solidFill>
          <a:ln cap="flat" cmpd="sng" w="12700">
            <a:solidFill>
              <a:srgbClr val="2456A5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187952" y="3840480"/>
            <a:ext cx="1051560" cy="704088"/>
          </a:xfrm>
          <a:prstGeom prst="rect">
            <a:avLst/>
          </a:prstGeom>
          <a:solidFill>
            <a:srgbClr val="E8EEFF"/>
          </a:solidFill>
          <a:ln cap="flat" cmpd="sng" w="9525">
            <a:solidFill>
              <a:srgbClr val="E8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66C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66C9"/>
                </a:solidFill>
                <a:latin typeface="Arial"/>
                <a:ea typeface="Arial"/>
                <a:cs typeface="Arial"/>
                <a:sym typeface="Arial"/>
              </a:rPr>
              <a:t>SU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349240" y="3803904"/>
            <a:ext cx="5349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60"/>
              <a:buFont typeface="Arial"/>
              <a:buNone/>
            </a:pPr>
            <a:r>
              <a:rPr b="0" i="0" lang="en-US" sz="14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Sebastian Urrutia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60"/>
              <a:buFont typeface="Arial"/>
              <a:buNone/>
            </a:pPr>
            <a:r>
              <a:rPr b="0" i="0" lang="en-US" sz="14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DBA / Desarrollador Backend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60"/>
              <a:buFont typeface="Arial"/>
              <a:buNone/>
            </a:pPr>
            <a:r>
              <a:rPr b="0" i="0" lang="en-US" sz="14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Modela base de datos y servicios backend.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069080" y="4919472"/>
            <a:ext cx="6903720" cy="960120"/>
          </a:xfrm>
          <a:prstGeom prst="roundRect">
            <a:avLst>
              <a:gd fmla="val 12381" name="adj"/>
            </a:avLst>
          </a:prstGeom>
          <a:solidFill>
            <a:srgbClr val="2F66C9"/>
          </a:solidFill>
          <a:ln cap="flat" cmpd="sng" w="12700">
            <a:solidFill>
              <a:srgbClr val="2456A5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4187952" y="5047488"/>
            <a:ext cx="1051560" cy="704088"/>
          </a:xfrm>
          <a:prstGeom prst="rect">
            <a:avLst/>
          </a:prstGeom>
          <a:solidFill>
            <a:srgbClr val="E8EEFF"/>
          </a:solidFill>
          <a:ln cap="flat" cmpd="sng" w="9525">
            <a:solidFill>
              <a:srgbClr val="E8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66C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66C9"/>
                </a:solidFill>
                <a:latin typeface="Arial"/>
                <a:ea typeface="Arial"/>
                <a:cs typeface="Arial"/>
                <a:sym typeface="Arial"/>
              </a:rPr>
              <a:t>MR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349240" y="5010912"/>
            <a:ext cx="5349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60"/>
              <a:buFont typeface="Arial"/>
              <a:buNone/>
            </a:pPr>
            <a:r>
              <a:rPr b="0" i="0" lang="en-US" sz="14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Matías Recabarren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60"/>
              <a:buFont typeface="Arial"/>
              <a:buNone/>
            </a:pPr>
            <a:r>
              <a:rPr b="0" i="0" lang="en-US" sz="14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Ingeniero QA / Tester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60"/>
              <a:buFont typeface="Arial"/>
              <a:buNone/>
            </a:pPr>
            <a:r>
              <a:rPr b="0" i="0" lang="en-US" sz="14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Valida calidad, pruebas y evidencias.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_assets/duoc_logo_crop.png" id="48" name="Google Shape;4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362" y="164592"/>
            <a:ext cx="2341659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"/>
          <p:cNvSpPr/>
          <p:nvPr/>
        </p:nvSpPr>
        <p:spPr>
          <a:xfrm>
            <a:off x="640080" y="6556248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TuPymeGestiona · Ingeniería Informática · Capstone 2026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" name="Google Shape;50;p3"/>
          <p:cNvCxnSpPr/>
          <p:nvPr/>
        </p:nvCxnSpPr>
        <p:spPr>
          <a:xfrm>
            <a:off x="640080" y="6473952"/>
            <a:ext cx="1092708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3"/>
          <p:cNvSpPr/>
          <p:nvPr/>
        </p:nvSpPr>
        <p:spPr>
          <a:xfrm>
            <a:off x="713232" y="107899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3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Descripción del Proyecto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713232" y="2130552"/>
            <a:ext cx="4443984" cy="3886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79B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25" lIns="2025" spcFirstLastPara="1" rIns="2025" wrap="square" tIns="20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Problemática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PYMES y pequeños emprendimientos suelen administrar productos, clientes, stock, pedidos y ventas con planillas o registros dispersos. Esto dificulta controlar inventario, roles, reportes, pagos y comunicación con clientes.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6931152" y="2130552"/>
            <a:ext cx="4590288" cy="3886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79B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25" lIns="2025" spcFirstLastPara="1" rIns="2025" wrap="square" tIns="20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Propuesta de solución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TuPymeGestiona centraliza la operación de la PYME en una plataforma web multiempresa, con gestión administrativa, inventario, ventas, reportes y un Portal Cliente para consultar tiendas, comprar y revisar pedidos.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5394960" y="3657600"/>
            <a:ext cx="1143000" cy="7772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9BD5"/>
          </a:solidFill>
          <a:ln cap="flat" cmpd="sng" w="12700">
            <a:solidFill>
              <a:srgbClr val="386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_assets/duoc_logo_crop.png" id="60" name="Google Shape;6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362" y="164592"/>
            <a:ext cx="2341659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4"/>
          <p:cNvSpPr/>
          <p:nvPr/>
        </p:nvSpPr>
        <p:spPr>
          <a:xfrm>
            <a:off x="640080" y="6556248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TuPymeGestiona · Ingeniería Informática · Capstone 2026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" name="Google Shape;62;p4"/>
          <p:cNvCxnSpPr/>
          <p:nvPr/>
        </p:nvCxnSpPr>
        <p:spPr>
          <a:xfrm>
            <a:off x="640080" y="6473952"/>
            <a:ext cx="1092708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4"/>
          <p:cNvSpPr/>
          <p:nvPr/>
        </p:nvSpPr>
        <p:spPr>
          <a:xfrm>
            <a:off x="182880" y="1170432"/>
            <a:ext cx="1179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612648" y="1920240"/>
            <a:ext cx="10972800" cy="126187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79B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25" lIns="2025" spcFirstLastPara="1" rIns="2025" wrap="square" tIns="20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Desarrollar una plataforma web multiempresa que centralice la gestión comercial y operativa de PYMES, integrando administración, inventario, pedidos, ventas, reportes y autoservicio para clientes finales.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182880" y="3703320"/>
            <a:ext cx="1179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Objetivos Específicos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612648" y="4407408"/>
            <a:ext cx="10972800" cy="15727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79B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25" lIns="2025" spcFirstLastPara="1" rIns="2025" wrap="square" tIns="20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Implementar mantenedores de usuarios, roles, empresas, sucursales y parámetros.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Controlar productos, proveedores, bodegas, stock y movimientos de inventario.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Registrar pedidos, ventas, pagos internos y estados operativos.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Incorporar Portal Cliente, reportes exportables, notificaciones y pago externo en entorno Sandbox.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_assets/duoc_logo_crop.png" id="72" name="Google Shape;7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362" y="164592"/>
            <a:ext cx="2341659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/>
          <p:nvPr/>
        </p:nvSpPr>
        <p:spPr>
          <a:xfrm>
            <a:off x="640080" y="6556248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TuPymeGestiona · Ingeniería Informática · Capstone 2026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" name="Google Shape;74;p5"/>
          <p:cNvCxnSpPr/>
          <p:nvPr/>
        </p:nvCxnSpPr>
        <p:spPr>
          <a:xfrm>
            <a:off x="640080" y="6473952"/>
            <a:ext cx="1092708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5"/>
          <p:cNvSpPr/>
          <p:nvPr/>
        </p:nvSpPr>
        <p:spPr>
          <a:xfrm>
            <a:off x="795528" y="7772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3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Alcances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896112" y="1572768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Que hace el Sistema: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914400" y="1938528"/>
            <a:ext cx="1051560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Gestión de empresas, usuarios, roles, sucursales y mantenedores.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Catálogo, productos, proveedores, bodegas e inventario.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Pedidos, ventas, pagos internos y reportes PDF/XLS.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Portal Cliente para tiendas, catálogos, pedidos e historial.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Aplicación secundaria Maintainers conectada al backend.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896112" y="406908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Qué no hace: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914400" y="4434840"/>
            <a:ext cx="105156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No se presenta como sistema productivo certificado en internet.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No activa pagos reales, SMTP productivo o SII real sin credenciales externas.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No incluye reputación, ratings, cupones ni logística avanzada en el alcance inicial.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No almacena secretos operativos en el repositorio ni en Maintainers.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" name="Google Shape;80;p5"/>
          <p:cNvCxnSpPr/>
          <p:nvPr/>
        </p:nvCxnSpPr>
        <p:spPr>
          <a:xfrm>
            <a:off x="896112" y="3886200"/>
            <a:ext cx="10287000" cy="0"/>
          </a:xfrm>
          <a:prstGeom prst="straightConnector1">
            <a:avLst/>
          </a:prstGeom>
          <a:noFill/>
          <a:ln cap="flat" cmpd="sng" w="1395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_assets/duoc_logo_crop.png" id="86" name="Google Shape;8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362" y="164592"/>
            <a:ext cx="2341659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6"/>
          <p:cNvSpPr/>
          <p:nvPr/>
        </p:nvSpPr>
        <p:spPr>
          <a:xfrm>
            <a:off x="640080" y="6556248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TuPymeGestiona · Ingeniería Informática · Capstone 2026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Google Shape;88;p6"/>
          <p:cNvCxnSpPr/>
          <p:nvPr/>
        </p:nvCxnSpPr>
        <p:spPr>
          <a:xfrm>
            <a:off x="640080" y="6473952"/>
            <a:ext cx="1092708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6"/>
          <p:cNvSpPr/>
          <p:nvPr/>
        </p:nvSpPr>
        <p:spPr>
          <a:xfrm>
            <a:off x="841248" y="102412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3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Usuarios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841248" y="1874520"/>
            <a:ext cx="10378440" cy="4315968"/>
          </a:xfrm>
          <a:prstGeom prst="roundRect">
            <a:avLst>
              <a:gd fmla="val 3178" name="adj"/>
            </a:avLst>
          </a:prstGeom>
          <a:solidFill>
            <a:srgbClr val="FFFFFF">
              <a:alpha val="0"/>
            </a:srgbClr>
          </a:solidFill>
          <a:ln cap="flat" cmpd="sng" w="13950">
            <a:solidFill>
              <a:srgbClr val="79B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1207008" y="2313432"/>
            <a:ext cx="4297680" cy="320040"/>
          </a:xfrm>
          <a:prstGeom prst="rect">
            <a:avLst/>
          </a:prstGeom>
          <a:solidFill>
            <a:srgbClr val="EAF3FF"/>
          </a:solidFill>
          <a:ln cap="flat" cmpd="sng" w="9525">
            <a:solidFill>
              <a:srgbClr val="EAF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66C9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F66C9"/>
                </a:solidFill>
                <a:latin typeface="Arial"/>
                <a:ea typeface="Arial"/>
                <a:cs typeface="Arial"/>
                <a:sym typeface="Arial"/>
              </a:rPr>
              <a:t>Administrador de PYME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1207008" y="2752344"/>
            <a:ext cx="4251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Configura empresa, usuarios, roles, sucursales, mantenedores y parámetros.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6236208" y="2313432"/>
            <a:ext cx="4297680" cy="320040"/>
          </a:xfrm>
          <a:prstGeom prst="rect">
            <a:avLst/>
          </a:prstGeom>
          <a:solidFill>
            <a:srgbClr val="EAF3FF"/>
          </a:solidFill>
          <a:ln cap="flat" cmpd="sng" w="9525">
            <a:solidFill>
              <a:srgbClr val="EAF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66C9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F66C9"/>
                </a:solidFill>
                <a:latin typeface="Arial"/>
                <a:ea typeface="Arial"/>
                <a:cs typeface="Arial"/>
                <a:sym typeface="Arial"/>
              </a:rPr>
              <a:t>Vendedor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236208" y="2752344"/>
            <a:ext cx="4251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Gestiona clientes, pedidos, ventas, cobros y seguimiento comercial.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1207008" y="4005072"/>
            <a:ext cx="4297680" cy="320040"/>
          </a:xfrm>
          <a:prstGeom prst="rect">
            <a:avLst/>
          </a:prstGeom>
          <a:solidFill>
            <a:srgbClr val="FFF6DA"/>
          </a:solidFill>
          <a:ln cap="flat" cmpd="sng" w="9525">
            <a:solidFill>
              <a:srgbClr val="FFF6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6A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A56A00"/>
                </a:solidFill>
                <a:latin typeface="Arial"/>
                <a:ea typeface="Arial"/>
                <a:cs typeface="Arial"/>
                <a:sym typeface="Arial"/>
              </a:rPr>
              <a:t>Encargado de Inventario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1207008" y="4443984"/>
            <a:ext cx="4251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Controla bodegas, existencias, movimientos y transferencias de stock.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6236208" y="4005072"/>
            <a:ext cx="4297680" cy="320040"/>
          </a:xfrm>
          <a:prstGeom prst="rect">
            <a:avLst/>
          </a:prstGeom>
          <a:solidFill>
            <a:srgbClr val="FFF6DA"/>
          </a:solidFill>
          <a:ln cap="flat" cmpd="sng" w="9525">
            <a:solidFill>
              <a:srgbClr val="FFF6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6A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A56A00"/>
                </a:solidFill>
                <a:latin typeface="Arial"/>
                <a:ea typeface="Arial"/>
                <a:cs typeface="Arial"/>
                <a:sym typeface="Arial"/>
              </a:rPr>
              <a:t>Cliente Final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6236208" y="4443984"/>
            <a:ext cx="4251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Explora tiendas, revisa productos, realiza pedidos, paga y consulta historial.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_assets/duoc_logo_crop.png" id="104" name="Google Shape;10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362" y="164592"/>
            <a:ext cx="2341659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7"/>
          <p:cNvSpPr/>
          <p:nvPr/>
        </p:nvSpPr>
        <p:spPr>
          <a:xfrm>
            <a:off x="640080" y="6556248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TuPymeGestiona · Ingeniería Informática · Capstone 2026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" name="Google Shape;106;p7"/>
          <p:cNvCxnSpPr/>
          <p:nvPr/>
        </p:nvCxnSpPr>
        <p:spPr>
          <a:xfrm>
            <a:off x="640080" y="6473952"/>
            <a:ext cx="1092708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7"/>
          <p:cNvSpPr/>
          <p:nvPr/>
        </p:nvSpPr>
        <p:spPr>
          <a:xfrm>
            <a:off x="841248" y="102412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3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Lista de Requerimientos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877824" y="1719072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El proyecto define 26 requerimientos funcionales y 12 requerimientos no funcionales, agrupados por áreas del sistema.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841248" y="2057400"/>
            <a:ext cx="10378440" cy="4069080"/>
          </a:xfrm>
          <a:prstGeom prst="roundRect">
            <a:avLst>
              <a:gd fmla="val 3371" name="adj"/>
            </a:avLst>
          </a:prstGeom>
          <a:solidFill>
            <a:srgbClr val="FFFFFF">
              <a:alpha val="0"/>
            </a:srgbClr>
          </a:solidFill>
          <a:ln cap="flat" cmpd="sng" w="13950">
            <a:solidFill>
              <a:srgbClr val="79B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1051560" y="2395728"/>
            <a:ext cx="3063240" cy="1216152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3950">
            <a:solidFill>
              <a:srgbClr val="D8E5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60"/>
              <a:buFont typeface="Arial"/>
              <a:buNone/>
            </a:pPr>
            <a:r>
              <a:rPr b="0" i="0" lang="en-US" sz="13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Administración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60"/>
              <a:buFont typeface="Arial"/>
              <a:buNone/>
            </a:pPr>
            <a:r>
              <a:rPr b="0" i="0" lang="en-US" sz="13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RF01–RF10, RF24–RF26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60"/>
              <a:buFont typeface="Arial"/>
              <a:buNone/>
            </a:pPr>
            <a:r>
              <a:rPr b="0" i="0" lang="en-US" sz="13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usuarios, roles, empresas, sucursales y mantenedores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4389120" y="2395728"/>
            <a:ext cx="3063240" cy="12161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D8E5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60"/>
              <a:buFont typeface="Arial"/>
              <a:buNone/>
            </a:pPr>
            <a:r>
              <a:rPr b="0" i="0" lang="en-US" sz="13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Catálogo e inventario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60"/>
              <a:buFont typeface="Arial"/>
              <a:buNone/>
            </a:pPr>
            <a:r>
              <a:rPr b="0" i="0" lang="en-US" sz="13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RF05–RF13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60"/>
              <a:buFont typeface="Arial"/>
              <a:buNone/>
            </a:pPr>
            <a:r>
              <a:rPr b="0" i="0" lang="en-US" sz="13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productos, proveedores, bodegas, stock y movimientos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7726680" y="2395728"/>
            <a:ext cx="3063240" cy="1216152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3950">
            <a:solidFill>
              <a:srgbClr val="D8E5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60"/>
              <a:buFont typeface="Arial"/>
              <a:buNone/>
            </a:pPr>
            <a:r>
              <a:rPr b="0" i="0" lang="en-US" sz="13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Operación comercial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60"/>
              <a:buFont typeface="Arial"/>
              <a:buNone/>
            </a:pPr>
            <a:r>
              <a:rPr b="0" i="0" lang="en-US" sz="13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RF14–RF15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60"/>
              <a:buFont typeface="Arial"/>
              <a:buNone/>
            </a:pPr>
            <a:r>
              <a:rPr b="0" i="0" lang="en-US" sz="13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pedidos, ventas, pagos internos y estados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051560" y="4041648"/>
            <a:ext cx="3063240" cy="12161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D8E5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60"/>
              <a:buFont typeface="Arial"/>
              <a:buNone/>
            </a:pPr>
            <a:r>
              <a:rPr b="0" i="0" lang="en-US" sz="13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Portal Cliente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60"/>
              <a:buFont typeface="Arial"/>
              <a:buNone/>
            </a:pPr>
            <a:r>
              <a:rPr b="0" i="0" lang="en-US" sz="13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RF16–RF17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60"/>
              <a:buFont typeface="Arial"/>
              <a:buNone/>
            </a:pPr>
            <a:r>
              <a:rPr b="0" i="0" lang="en-US" sz="13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tiendas, catálogos, estado e historial de pedidos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4389120" y="4041648"/>
            <a:ext cx="3063240" cy="1216152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3950">
            <a:solidFill>
              <a:srgbClr val="D8E5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60"/>
              <a:buFont typeface="Arial"/>
              <a:buNone/>
            </a:pPr>
            <a:r>
              <a:rPr b="0" i="0" lang="en-US" sz="13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Integraciones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60"/>
              <a:buFont typeface="Arial"/>
              <a:buNone/>
            </a:pPr>
            <a:r>
              <a:rPr b="0" i="0" lang="en-US" sz="13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RF18–RF19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60"/>
              <a:buFont typeface="Arial"/>
              <a:buNone/>
            </a:pPr>
            <a:r>
              <a:rPr b="0" i="0" lang="en-US" sz="13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Mercado Pago Sandbox y notificaciones por correo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7726680" y="4041648"/>
            <a:ext cx="3063240" cy="12161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D8E5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60"/>
              <a:buFont typeface="Arial"/>
              <a:buNone/>
            </a:pPr>
            <a:r>
              <a:rPr b="0" i="0" lang="en-US" sz="13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Reportes y seguridad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60"/>
              <a:buFont typeface="Arial"/>
              <a:buNone/>
            </a:pPr>
            <a:r>
              <a:rPr b="0" i="0" lang="en-US" sz="13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RF20–RF23 + RNF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60"/>
              <a:buFont typeface="Arial"/>
              <a:buNone/>
            </a:pPr>
            <a:r>
              <a:rPr b="0" i="0" lang="en-US" sz="136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PDF/XLS, autenticación, roles, validaciones y capas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_assets/duoc_logo_crop.png" id="121" name="Google Shape;12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362" y="164592"/>
            <a:ext cx="2341659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8"/>
          <p:cNvSpPr/>
          <p:nvPr/>
        </p:nvSpPr>
        <p:spPr>
          <a:xfrm>
            <a:off x="640080" y="6556248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TuPymeGestiona · Ingeniería Informática · Capstone 2026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123;p8"/>
          <p:cNvCxnSpPr/>
          <p:nvPr/>
        </p:nvCxnSpPr>
        <p:spPr>
          <a:xfrm>
            <a:off x="640080" y="6473952"/>
            <a:ext cx="1092708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8"/>
          <p:cNvSpPr/>
          <p:nvPr/>
        </p:nvSpPr>
        <p:spPr>
          <a:xfrm>
            <a:off x="640080" y="1042416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Mockups del Sistema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685800" y="160020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Aplicación principal: gestión PYME, operación diaria e información de negocio.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assets/mock_crops/dashboard.png" id="126" name="Google Shape;126;p8"/>
          <p:cNvPicPr preferRelativeResize="0"/>
          <p:nvPr/>
        </p:nvPicPr>
        <p:blipFill rotWithShape="1">
          <a:blip r:embed="rId4">
            <a:alphaModFix/>
          </a:blip>
          <a:srcRect b="417" l="0" r="0" t="417"/>
          <a:stretch/>
        </p:blipFill>
        <p:spPr>
          <a:xfrm>
            <a:off x="685800" y="2057400"/>
            <a:ext cx="5257800" cy="2944368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8"/>
          <p:cNvSpPr/>
          <p:nvPr/>
        </p:nvSpPr>
        <p:spPr>
          <a:xfrm>
            <a:off x="685800" y="2057400"/>
            <a:ext cx="5257800" cy="2944368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_assets/mock_crops/inventario.png" id="128" name="Google Shape;128;p8"/>
          <p:cNvPicPr preferRelativeResize="0"/>
          <p:nvPr/>
        </p:nvPicPr>
        <p:blipFill rotWithShape="1">
          <a:blip r:embed="rId5">
            <a:alphaModFix/>
          </a:blip>
          <a:srcRect b="417" l="0" r="0" t="417"/>
          <a:stretch/>
        </p:blipFill>
        <p:spPr>
          <a:xfrm>
            <a:off x="6172200" y="2057400"/>
            <a:ext cx="5257800" cy="294436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8"/>
          <p:cNvSpPr/>
          <p:nvPr/>
        </p:nvSpPr>
        <p:spPr>
          <a:xfrm>
            <a:off x="6172200" y="2057400"/>
            <a:ext cx="5257800" cy="2944368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868680" y="5166360"/>
            <a:ext cx="4892040" cy="292608"/>
          </a:xfrm>
          <a:prstGeom prst="rect">
            <a:avLst/>
          </a:prstGeom>
          <a:solidFill>
            <a:srgbClr val="EAF3FF"/>
          </a:solidFill>
          <a:ln cap="flat" cmpd="sng" w="9525">
            <a:solidFill>
              <a:srgbClr val="EAF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66C9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F66C9"/>
                </a:solidFill>
                <a:latin typeface="Arial"/>
                <a:ea typeface="Arial"/>
                <a:cs typeface="Arial"/>
                <a:sym typeface="Arial"/>
              </a:rPr>
              <a:t>Dashboard y resumen general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6355080" y="5166360"/>
            <a:ext cx="4892040" cy="292608"/>
          </a:xfrm>
          <a:prstGeom prst="rect">
            <a:avLst/>
          </a:prstGeom>
          <a:solidFill>
            <a:srgbClr val="EAF3FF"/>
          </a:solidFill>
          <a:ln cap="flat" cmpd="sng" w="9525">
            <a:solidFill>
              <a:srgbClr val="EAF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66C9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F66C9"/>
                </a:solidFill>
                <a:latin typeface="Arial"/>
                <a:ea typeface="Arial"/>
                <a:cs typeface="Arial"/>
                <a:sym typeface="Arial"/>
              </a:rPr>
              <a:t>Inventario y control de stock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_assets/duoc_logo_crop.png" id="137" name="Google Shape;13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362" y="164592"/>
            <a:ext cx="2341659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9"/>
          <p:cNvSpPr/>
          <p:nvPr/>
        </p:nvSpPr>
        <p:spPr>
          <a:xfrm>
            <a:off x="640080" y="6556248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TuPymeGestiona · Ingeniería Informática · Capstone 2026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" name="Google Shape;139;p9"/>
          <p:cNvCxnSpPr/>
          <p:nvPr/>
        </p:nvCxnSpPr>
        <p:spPr>
          <a:xfrm>
            <a:off x="640080" y="6473952"/>
            <a:ext cx="1092708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9"/>
          <p:cNvSpPr/>
          <p:nvPr/>
        </p:nvSpPr>
        <p:spPr>
          <a:xfrm>
            <a:off x="640080" y="1042416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Mockups del Sistema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685800" y="160020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Flujos representativos del sistema: pedidos, ventas, reportes y administración de mantenedores.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assets/mock_crops/pedidos.png" id="142" name="Google Shape;142;p9"/>
          <p:cNvPicPr preferRelativeResize="0"/>
          <p:nvPr/>
        </p:nvPicPr>
        <p:blipFill rotWithShape="1">
          <a:blip r:embed="rId4">
            <a:alphaModFix/>
          </a:blip>
          <a:srcRect b="0" l="2737" r="2737" t="0"/>
          <a:stretch/>
        </p:blipFill>
        <p:spPr>
          <a:xfrm>
            <a:off x="685800" y="2029968"/>
            <a:ext cx="3520440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9"/>
          <p:cNvSpPr/>
          <p:nvPr/>
        </p:nvSpPr>
        <p:spPr>
          <a:xfrm>
            <a:off x="685800" y="2029968"/>
            <a:ext cx="3520440" cy="210312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_assets/mock_crops/pos.png" id="144" name="Google Shape;144;p9"/>
          <p:cNvPicPr preferRelativeResize="0"/>
          <p:nvPr/>
        </p:nvPicPr>
        <p:blipFill rotWithShape="1">
          <a:blip r:embed="rId5">
            <a:alphaModFix/>
          </a:blip>
          <a:srcRect b="0" l="2737" r="2737" t="0"/>
          <a:stretch/>
        </p:blipFill>
        <p:spPr>
          <a:xfrm>
            <a:off x="4343400" y="2029968"/>
            <a:ext cx="3520440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9"/>
          <p:cNvSpPr/>
          <p:nvPr/>
        </p:nvSpPr>
        <p:spPr>
          <a:xfrm>
            <a:off x="4343400" y="2029968"/>
            <a:ext cx="3520440" cy="210312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_assets/mock_crops/reportes.png" id="146" name="Google Shape;146;p9"/>
          <p:cNvPicPr preferRelativeResize="0"/>
          <p:nvPr/>
        </p:nvPicPr>
        <p:blipFill rotWithShape="1">
          <a:blip r:embed="rId6">
            <a:alphaModFix/>
          </a:blip>
          <a:srcRect b="0" l="2737" r="2737" t="0"/>
          <a:stretch/>
        </p:blipFill>
        <p:spPr>
          <a:xfrm>
            <a:off x="8001000" y="2029968"/>
            <a:ext cx="3520440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9"/>
          <p:cNvSpPr/>
          <p:nvPr/>
        </p:nvSpPr>
        <p:spPr>
          <a:xfrm>
            <a:off x="8001000" y="2029968"/>
            <a:ext cx="3520440" cy="210312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"/>
          <p:cNvSpPr/>
          <p:nvPr/>
        </p:nvSpPr>
        <p:spPr>
          <a:xfrm>
            <a:off x="868680" y="4315968"/>
            <a:ext cx="3154680" cy="256032"/>
          </a:xfrm>
          <a:prstGeom prst="rect">
            <a:avLst/>
          </a:prstGeom>
          <a:solidFill>
            <a:srgbClr val="EAF3FF"/>
          </a:solidFill>
          <a:ln cap="flat" cmpd="sng" w="9525">
            <a:solidFill>
              <a:srgbClr val="EAF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66C9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F66C9"/>
                </a:solidFill>
                <a:latin typeface="Arial"/>
                <a:ea typeface="Arial"/>
                <a:cs typeface="Arial"/>
                <a:sym typeface="Arial"/>
              </a:rPr>
              <a:t>Pedidos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4526280" y="4315968"/>
            <a:ext cx="3154680" cy="256032"/>
          </a:xfrm>
          <a:prstGeom prst="rect">
            <a:avLst/>
          </a:prstGeom>
          <a:solidFill>
            <a:srgbClr val="EAF3FF"/>
          </a:solidFill>
          <a:ln cap="flat" cmpd="sng" w="9525">
            <a:solidFill>
              <a:srgbClr val="EAF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66C9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F66C9"/>
                </a:solidFill>
                <a:latin typeface="Arial"/>
                <a:ea typeface="Arial"/>
                <a:cs typeface="Arial"/>
                <a:sym typeface="Arial"/>
              </a:rPr>
              <a:t>Punto de venta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8183880" y="4315968"/>
            <a:ext cx="3154680" cy="256032"/>
          </a:xfrm>
          <a:prstGeom prst="rect">
            <a:avLst/>
          </a:prstGeom>
          <a:solidFill>
            <a:srgbClr val="EAF3FF"/>
          </a:solidFill>
          <a:ln cap="flat" cmpd="sng" w="9525">
            <a:solidFill>
              <a:srgbClr val="EAF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66C9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F66C9"/>
                </a:solidFill>
                <a:latin typeface="Arial"/>
                <a:ea typeface="Arial"/>
                <a:cs typeface="Arial"/>
                <a:sym typeface="Arial"/>
              </a:rPr>
              <a:t>Reportes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1143000" y="4983480"/>
            <a:ext cx="9921240" cy="7772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3950">
            <a:solidFill>
              <a:srgbClr val="D8E5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25" lIns="2025" spcFirstLastPara="1" rIns="2025" wrap="square" tIns="20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La propuesta visual permite explicar el recorrido principal: administración de productos e inventario, operación comercial, consulta de reportes y soporte a mantenedores del sistema.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_assets/duoc_logo_crop.png" id="157" name="Google Shape;1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362" y="164592"/>
            <a:ext cx="2341659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0"/>
          <p:cNvSpPr/>
          <p:nvPr/>
        </p:nvSpPr>
        <p:spPr>
          <a:xfrm>
            <a:off x="640080" y="6556248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TuPymeGestiona · Ingeniería Informática · Capstone 2026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p10"/>
          <p:cNvCxnSpPr/>
          <p:nvPr/>
        </p:nvCxnSpPr>
        <p:spPr>
          <a:xfrm>
            <a:off x="640080" y="6473952"/>
            <a:ext cx="1092708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10"/>
          <p:cNvSpPr/>
          <p:nvPr/>
        </p:nvSpPr>
        <p:spPr>
          <a:xfrm>
            <a:off x="640080" y="1060704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3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Hitos Importantes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1051560" y="2011680"/>
            <a:ext cx="2926080" cy="347472"/>
          </a:xfrm>
          <a:prstGeom prst="rect">
            <a:avLst/>
          </a:prstGeom>
          <a:solidFill>
            <a:srgbClr val="F3F4F6"/>
          </a:solidFill>
          <a:ln cap="flat" cmpd="sng" w="101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 Fase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3977640" y="2011680"/>
            <a:ext cx="1828800" cy="347472"/>
          </a:xfrm>
          <a:prstGeom prst="rect">
            <a:avLst/>
          </a:prstGeom>
          <a:solidFill>
            <a:srgbClr val="F3F4F6"/>
          </a:solidFill>
          <a:ln cap="flat" cmpd="sng" w="101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Fechas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5806440" y="2011680"/>
            <a:ext cx="5303520" cy="347472"/>
          </a:xfrm>
          <a:prstGeom prst="rect">
            <a:avLst/>
          </a:prstGeom>
          <a:solidFill>
            <a:srgbClr val="F3F4F6"/>
          </a:solidFill>
          <a:ln cap="flat" cmpd="sng" w="101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Evidencia asociada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1051560" y="2359152"/>
            <a:ext cx="292608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Definición y alcance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3977640" y="2359152"/>
            <a:ext cx="182880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18/08 – 25/08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5806440" y="2359152"/>
            <a:ext cx="530352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Problema, solución, objetivos y alcance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1051560" y="2852928"/>
            <a:ext cx="292608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Acta, ERS y requisitos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3977640" y="2852928"/>
            <a:ext cx="182880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25/08 – 01/09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5806440" y="2852928"/>
            <a:ext cx="530352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RF01–RF26, RNF y criterios académicos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1051560" y="3346704"/>
            <a:ext cx="292608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Arquitectura y mockups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3977640" y="3346704"/>
            <a:ext cx="182880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01/09 – 22/09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5806440" y="3346704"/>
            <a:ext cx="530352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CU001–CU025, DAS y diseño visual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1051560" y="3840480"/>
            <a:ext cx="292608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Desarrollo de módulos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3977640" y="3840480"/>
            <a:ext cx="182880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22/09 – 17/11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5806440" y="3840480"/>
            <a:ext cx="530352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Gestión PYME, Portal Cliente, reportes e integraciones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1051560" y="4334256"/>
            <a:ext cx="292608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QA y cierre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3977640" y="4334256"/>
            <a:ext cx="182880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17/11 – 15/12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5806440" y="4334256"/>
            <a:ext cx="530352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Pruebas, evidencias, manuales y entrega final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_assets/duoc_logo_crop.png" id="184" name="Google Shape;18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362" y="164592"/>
            <a:ext cx="2341659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1"/>
          <p:cNvSpPr/>
          <p:nvPr/>
        </p:nvSpPr>
        <p:spPr>
          <a:xfrm>
            <a:off x="640080" y="6556248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TuPymeGestiona · Ingeniería Informática · Capstone 2026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" name="Google Shape;186;p11"/>
          <p:cNvCxnSpPr/>
          <p:nvPr/>
        </p:nvCxnSpPr>
        <p:spPr>
          <a:xfrm>
            <a:off x="640080" y="6473952"/>
            <a:ext cx="1092708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11"/>
          <p:cNvSpPr/>
          <p:nvPr/>
        </p:nvSpPr>
        <p:spPr>
          <a:xfrm>
            <a:off x="704088" y="94183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3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Costos por Fase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786384" y="1700784"/>
            <a:ext cx="10241280" cy="4343400"/>
          </a:xfrm>
          <a:prstGeom prst="roundRect">
            <a:avLst>
              <a:gd fmla="val 3158" name="adj"/>
            </a:avLst>
          </a:prstGeom>
          <a:solidFill>
            <a:srgbClr val="FFFFFF">
              <a:alpha val="0"/>
            </a:srgbClr>
          </a:solidFill>
          <a:ln cap="flat" cmpd="sng" w="13950">
            <a:solidFill>
              <a:srgbClr val="79B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1143000" y="2057400"/>
            <a:ext cx="3108960" cy="347472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4251960" y="2057400"/>
            <a:ext cx="2011680" cy="347472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Costo estimado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1143000" y="2404872"/>
            <a:ext cx="310896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Planificación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4251960" y="2404872"/>
            <a:ext cx="201168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$1.359.375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1143000" y="2752344"/>
            <a:ext cx="310896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Análisis y Diseño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4251960" y="2752344"/>
            <a:ext cx="201168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$3.656.250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1143000" y="3099816"/>
            <a:ext cx="310896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Desarrollo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4251960" y="3099816"/>
            <a:ext cx="201168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$3.656.250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1143000" y="3447288"/>
            <a:ext cx="310896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Pruebas y QA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4251960" y="3447288"/>
            <a:ext cx="201168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$1.898.438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1143000" y="3794760"/>
            <a:ext cx="310896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Implementación y Cierre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4251960" y="3794760"/>
            <a:ext cx="201168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$679.688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1143000" y="4142232"/>
            <a:ext cx="310896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Infraestructura / contingencia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4251960" y="4142232"/>
            <a:ext cx="201168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$1.290.000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1143000" y="4663440"/>
            <a:ext cx="3108960" cy="411480"/>
          </a:xfrm>
          <a:prstGeom prst="rect">
            <a:avLst/>
          </a:prstGeom>
          <a:solidFill>
            <a:srgbClr val="FFF7E6"/>
          </a:solidFill>
          <a:ln cap="flat" cmpd="sng" w="10150">
            <a:solidFill>
              <a:srgbClr val="F1C5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Costo total estimado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4251960" y="4663440"/>
            <a:ext cx="2011680" cy="411480"/>
          </a:xfrm>
          <a:prstGeom prst="rect">
            <a:avLst/>
          </a:prstGeom>
          <a:solidFill>
            <a:srgbClr val="FFF7E6"/>
          </a:solidFill>
          <a:ln cap="flat" cmpd="sng" w="10150">
            <a:solidFill>
              <a:srgbClr val="F1C5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$12.540.000 CLP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6629400" y="2103120"/>
            <a:ext cx="3886200" cy="96012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 cap="flat" cmpd="sng" w="13950">
            <a:solidFill>
              <a:srgbClr val="F1C5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25" lIns="2025" spcFirstLastPara="1" rIns="2025" wrap="square" tIns="20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842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62842"/>
                </a:solidFill>
                <a:latin typeface="Arial"/>
                <a:ea typeface="Arial"/>
                <a:cs typeface="Arial"/>
                <a:sym typeface="Arial"/>
              </a:rPr>
              <a:t>Total del proyecto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842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62842"/>
                </a:solidFill>
                <a:latin typeface="Arial"/>
                <a:ea typeface="Arial"/>
                <a:cs typeface="Arial"/>
                <a:sym typeface="Arial"/>
              </a:rPr>
              <a:t>$12.540.000 CLP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6629400" y="342900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Fases con mayor inversión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6629400" y="3794760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Análisis/Diseño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8092440" y="3831336"/>
            <a:ext cx="2240280" cy="118872"/>
          </a:xfrm>
          <a:prstGeom prst="rect">
            <a:avLst/>
          </a:prstGeom>
          <a:solidFill>
            <a:srgbClr val="2F66C9"/>
          </a:solidFill>
          <a:ln cap="flat" cmpd="sng" w="12700">
            <a:solidFill>
              <a:srgbClr val="2F6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"/>
          <p:cNvSpPr/>
          <p:nvPr/>
        </p:nvSpPr>
        <p:spPr>
          <a:xfrm>
            <a:off x="6629400" y="4123944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Desarrollo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8092440" y="4160520"/>
            <a:ext cx="2240280" cy="118872"/>
          </a:xfrm>
          <a:prstGeom prst="rect">
            <a:avLst/>
          </a:prstGeom>
          <a:solidFill>
            <a:srgbClr val="2F66C9"/>
          </a:solidFill>
          <a:ln cap="flat" cmpd="sng" w="12700">
            <a:solidFill>
              <a:srgbClr val="2F6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6629400" y="4453128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Pruebas QA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8092440" y="4489704"/>
            <a:ext cx="1162987" cy="118872"/>
          </a:xfrm>
          <a:prstGeom prst="rect">
            <a:avLst/>
          </a:prstGeom>
          <a:solidFill>
            <a:srgbClr val="2F66C9"/>
          </a:solidFill>
          <a:ln cap="flat" cmpd="sng" w="12700">
            <a:solidFill>
              <a:srgbClr val="2F6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6629400" y="4782312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Planificación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8092440" y="4818888"/>
            <a:ext cx="832454" cy="118872"/>
          </a:xfrm>
          <a:prstGeom prst="rect">
            <a:avLst/>
          </a:prstGeom>
          <a:solidFill>
            <a:srgbClr val="2F66C9"/>
          </a:solidFill>
          <a:ln cap="flat" cmpd="sng" w="12700">
            <a:solidFill>
              <a:srgbClr val="2F6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"/>
          <p:cNvSpPr/>
          <p:nvPr/>
        </p:nvSpPr>
        <p:spPr>
          <a:xfrm>
            <a:off x="6629400" y="5111496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Cierre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8092440" y="5148072"/>
            <a:ext cx="416227" cy="118872"/>
          </a:xfrm>
          <a:prstGeom prst="rect">
            <a:avLst/>
          </a:prstGeom>
          <a:solidFill>
            <a:srgbClr val="2F66C9"/>
          </a:solidFill>
          <a:ln cap="flat" cmpd="sng" w="12700">
            <a:solidFill>
              <a:srgbClr val="2F6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_assets/duoc_logo_crop.png" id="222" name="Google Shape;22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362" y="164592"/>
            <a:ext cx="2341659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2"/>
          <p:cNvSpPr/>
          <p:nvPr/>
        </p:nvSpPr>
        <p:spPr>
          <a:xfrm>
            <a:off x="640080" y="6556248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TuPymeGestiona · Ingeniería Informática · Capstone 2026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" name="Google Shape;224;p12"/>
          <p:cNvCxnSpPr/>
          <p:nvPr/>
        </p:nvCxnSpPr>
        <p:spPr>
          <a:xfrm>
            <a:off x="640080" y="6473952"/>
            <a:ext cx="1092708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12"/>
          <p:cNvSpPr/>
          <p:nvPr/>
        </p:nvSpPr>
        <p:spPr>
          <a:xfrm>
            <a:off x="640080" y="105156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3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Tecnologías del Desarrollo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658368" y="1709928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Arquitectura web por capas con frontend Angular, backend Django/DRF y persistencia MySQL.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960120" y="2240280"/>
            <a:ext cx="3383280" cy="10515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3950">
            <a:solidFill>
              <a:srgbClr val="D8E5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25" lIns="2025" spcFirstLastPara="1" rIns="2025" wrap="square" tIns="20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Angular principal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Gestión PYME + Portal Cliente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localhost:4200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960120" y="3657600"/>
            <a:ext cx="3383280" cy="10515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3950">
            <a:solidFill>
              <a:srgbClr val="D8E5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25" lIns="2025" spcFirstLastPara="1" rIns="2025" wrap="square" tIns="20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Angular Maintainers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Aplicación secundaria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localhost:4300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4526280" y="2880360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66C9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66C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4526280" y="4069080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66C9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66C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5212080" y="2880360"/>
            <a:ext cx="2331720" cy="1143000"/>
          </a:xfrm>
          <a:prstGeom prst="roundRect">
            <a:avLst>
              <a:gd fmla="val 16667" name="adj"/>
            </a:avLst>
          </a:prstGeom>
          <a:solidFill>
            <a:srgbClr val="EEF2FF"/>
          </a:solidFill>
          <a:ln cap="flat" cmpd="sng" w="13950">
            <a:solidFill>
              <a:srgbClr val="BFC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25" lIns="2025" spcFirstLastPara="1" rIns="2025" wrap="square" tIns="20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Backend Django 6.1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Django REST Framework 3.18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API REST / JSON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7635240" y="3063240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66C9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66C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8275320" y="2514600"/>
            <a:ext cx="2697480" cy="91440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 cap="flat" cmpd="sng" w="13950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25" lIns="2025" spcFirstLastPara="1" rIns="2025" wrap="square" tIns="20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MySQL 8.4.11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Base real/local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SQLite solo QA aislado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8275320" y="3977640"/>
            <a:ext cx="2697480" cy="914400"/>
          </a:xfrm>
          <a:prstGeom prst="roundRect">
            <a:avLst>
              <a:gd fmla="val 16667" name="adj"/>
            </a:avLst>
          </a:prstGeom>
          <a:solidFill>
            <a:srgbClr val="FFF7E6"/>
          </a:solidFill>
          <a:ln cap="flat" cmpd="sng" w="13950">
            <a:solidFill>
              <a:srgbClr val="F1C5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25" lIns="2025" spcFirstLastPara="1" rIns="2025" wrap="square" tIns="20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Servicios externos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Mercado Pago Sandbox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SMTP en entorno configurado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7635240" y="3794760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66C9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F66C9"/>
                </a:solidFill>
                <a:latin typeface="Arial"/>
                <a:ea typeface="Arial"/>
                <a:cs typeface="Arial"/>
                <a:sym typeface="Arial"/>
              </a:rPr>
              <a:t>↘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960120" y="5623560"/>
            <a:ext cx="10287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Herramientas de soporte: Git/GitHub, npm, TypeScript, ReportLab, XlsxWriter y pruebas automatizadas.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_assets/duoc_logo_crop.png" id="242" name="Google Shape;24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362" y="164592"/>
            <a:ext cx="2341659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3"/>
          <p:cNvSpPr/>
          <p:nvPr/>
        </p:nvSpPr>
        <p:spPr>
          <a:xfrm>
            <a:off x="640080" y="6556248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TuPymeGestiona · Ingeniería Informática · Capstone 2026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4" name="Google Shape;244;p13"/>
          <p:cNvCxnSpPr/>
          <p:nvPr/>
        </p:nvCxnSpPr>
        <p:spPr>
          <a:xfrm>
            <a:off x="640080" y="6473952"/>
            <a:ext cx="1092708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13"/>
          <p:cNvSpPr/>
          <p:nvPr/>
        </p:nvSpPr>
        <p:spPr>
          <a:xfrm>
            <a:off x="603504" y="987552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3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Conclusión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841248" y="1874520"/>
            <a:ext cx="10378440" cy="4251960"/>
          </a:xfrm>
          <a:prstGeom prst="roundRect">
            <a:avLst>
              <a:gd fmla="val 3226" name="adj"/>
            </a:avLst>
          </a:prstGeom>
          <a:solidFill>
            <a:srgbClr val="FFFFFF">
              <a:alpha val="0"/>
            </a:srgbClr>
          </a:solidFill>
          <a:ln cap="flat" cmpd="sng" w="13950">
            <a:solidFill>
              <a:srgbClr val="79B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3"/>
          <p:cNvSpPr/>
          <p:nvPr/>
        </p:nvSpPr>
        <p:spPr>
          <a:xfrm>
            <a:off x="1234440" y="2331720"/>
            <a:ext cx="9601200" cy="777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25" lIns="2025" spcFirstLastPara="1" rIns="2025" wrap="square" tIns="20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TuPymeGestiona entrega una solución integral para PYMES que necesitan ordenar su operación diaria sin depender de registros dispersos o sistemas complejos.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8" name="Google Shape;248;p13"/>
          <p:cNvCxnSpPr/>
          <p:nvPr/>
        </p:nvCxnSpPr>
        <p:spPr>
          <a:xfrm>
            <a:off x="1828800" y="3337560"/>
            <a:ext cx="850392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13"/>
          <p:cNvSpPr/>
          <p:nvPr/>
        </p:nvSpPr>
        <p:spPr>
          <a:xfrm>
            <a:off x="1417320" y="35844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842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62842"/>
                </a:solidFill>
                <a:latin typeface="Arial"/>
                <a:ea typeface="Arial"/>
                <a:cs typeface="Arial"/>
                <a:sym typeface="Arial"/>
              </a:rPr>
              <a:t>Logros principales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1417320" y="3950208"/>
            <a:ext cx="6400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20"/>
              <a:buFont typeface="Arial"/>
              <a:buNone/>
            </a:pPr>
            <a:r>
              <a:rPr b="0" i="0" lang="en-US" sz="15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Plataforma multiempresa con gestión PYME y Portal Cliente.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20"/>
              <a:buFont typeface="Arial"/>
              <a:buNone/>
            </a:pPr>
            <a:r>
              <a:rPr b="0" i="0" lang="en-US" sz="15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Aplicación secundaria Maintainers conectada al mismo backend.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20"/>
              <a:buFont typeface="Arial"/>
              <a:buNone/>
            </a:pPr>
            <a:r>
              <a:rPr b="0" i="0" lang="en-US" sz="15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Reportes exportables, autenticación, roles e interoperabilidad en código.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20"/>
              <a:buFont typeface="Arial"/>
              <a:buNone/>
            </a:pPr>
            <a:r>
              <a:rPr b="0" i="0" lang="en-US" sz="15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Estado operativo en desarrollo local con evidencia técnica y QA verde.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8092440" y="3657600"/>
            <a:ext cx="2606040" cy="1417320"/>
          </a:xfrm>
          <a:prstGeom prst="roundRect">
            <a:avLst>
              <a:gd fmla="val 16667" name="adj"/>
            </a:avLst>
          </a:prstGeom>
          <a:solidFill>
            <a:srgbClr val="EAF3FF"/>
          </a:solidFill>
          <a:ln cap="flat" cmpd="sng" w="13950">
            <a:solidFill>
              <a:srgbClr val="79B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25" lIns="2025" spcFirstLastPara="1" rIns="2025" wrap="square" tIns="20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Estado actual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Operativo en entorno local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Backend + MySQL + 2 aplicaciones Angular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2026-09-06T07:28:26Z</dcterms:created>
  <dc:creator>TuPymeGestiona</dc:creator>
</cp:coreProperties>
</file>